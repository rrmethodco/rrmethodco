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548640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77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F172A"/>
                </a:solidFill>
                <a:latin typeface="Calibri"/>
              </a:rPr>
              <a:t>AI that wins dental claims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Pre-authorizations, claim appeals, and referral letters — drafted from your PMS, approved in one click. Carrier intelligence that gets smarter every week.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Investor pitch · Seed round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FBF1"/>
                </a:solidFill>
                <a:latin typeface="Calibri"/>
              </a:rPr>
              <a:t>restore-demo.vercel.app · github.com/rrmethodco/rrmethodco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THE BLEED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Carriers deny 20-30% of valid claims. Most practices give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An office manager bills at ~$40/hr. A 90-minute appeal letter for a claim that </a:t>
            </a:r>
          </a:p>
          <a:p>
            <a:pPr algn="l"/>
            <a:r>
              <a:rPr sz="1400" b="1">
                <a:solidFill>
                  <a:srgbClr val="334155"/>
                </a:solidFill>
                <a:latin typeface="Calibri"/>
              </a:rPr>
              <a:t>might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 get paid in three months is a losing bet — so it doesn't get written.
</a:t>
            </a:r>
          </a:p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
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Endo specifically: $5K-$15K claims routinely written off because no office manager has 90 minutes to fight a carrier.
</a:t>
            </a:r>
          </a:p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
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And generic AI text generators don't fix this. Every carrier wants a different narrative. Without per-carrier intelligence, generic appeals lose 60-70% of the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828800"/>
            <a:ext cx="4114800" cy="4114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THE MATH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11D48"/>
                </a:solidFill>
                <a:latin typeface="Calibri"/>
              </a:rPr>
              <a:t>$500K–$2M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8346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annually written off per practice in justified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11D48"/>
                </a:solidFill>
                <a:latin typeface="Calibri"/>
              </a:rPr>
              <a:t>90+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7033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of office-manager time per appeal letter — labor cost often exceeds expected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11D48"/>
                </a:solidFill>
                <a:latin typeface="Calibri"/>
              </a:rPr>
              <a:t>35-50%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5720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success rate when practices draft appeals themselves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11D48"/>
                </a:solidFill>
                <a:latin typeface="Calibri"/>
              </a:rPr>
              <a:t>No learning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4406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every appeal a practice writes loses its lessons the moment the case closes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Problem A — The bleed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Why practices don't appeal — even when they should.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703320" cy="3657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37160" cy="3657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Time cost &gt; revenue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Office manager billable at ~$40/hr. 90 min appeal = $60 cost. 50% win rate × $500 avg = $250 EV. The practice breaks even at best.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011680"/>
            <a:ext cx="3703320" cy="3657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137160" cy="3657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599" y="2194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Every carrier wants a different narrative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9" y="28346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Cigna wants anatomical specificity. Delta wants ADA-CDT-exact terminology. MetLife wants conservative-alternatives-considered language. Generic letters lose 60-70% of the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011680"/>
            <a:ext cx="3703320" cy="3657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011680"/>
            <a:ext cx="137160" cy="3657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19" y="2194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No learning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19" y="28346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This appeal lost? Next case gets the same flawed template. Practice has zero visibility into why denials cluster. Carrier intelligence dies with the person who drafted the letter.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Problem B — Why it persists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Three converging shifts make this practical in 2026.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LLM reasoning extracts carrier patterns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Read 1,000 EOBs across one carrier, identify denial clusters. Inference cost &lt;$0.10 per narrative. Vision models parse claim forms and clinical notes at speed.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01168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599" y="21945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599" y="28346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Dental PMS integrations have matured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9" y="365760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PBS Endo, TDO, Endovision, Dentrix, Open Dental all stream events in real time. New TX plans, EOBs, completed treatments — live webhooks. No new login friction for staff.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01168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19" y="21945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19" y="28346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Sophisticated buyers + BAA-grade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19" y="365760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DSO consolidation (16% → 32% of practices) creates RCM-aware buyers. Endo specifically measures insurance leakage as a P&amp;L line. Anthropic API ships BAA out of the box — compliance friction = zero.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Why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Watch. Draft. Approve.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Restore lives inside the practice's PMS. When something happens that needs a response, we draft it. The office manager reviews and submits in one click. Submission to clearinghouse + PMS document center is autonomous.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97480" cy="2834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PMS webhook fires.
New TX plan, EOB with denial code, treatment marked complete.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926080"/>
            <a:ext cx="2697480" cy="2834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16052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Restore reads case context.
Per-carrier intelligence applied. Confidence rationale shown.
Sometimes the answer is DO NOT APPEAL.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2697480" cy="2834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2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Office manager opens inbox.
60-90 second review.
Approve, edit, or skip with reason.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926080"/>
            <a:ext cx="2697480" cy="2834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Submit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16052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Auto-submits to clearinghouse.
Logs to PMS Doc Center.
Audit trail captured.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5E59"/>
                </a:solidFill>
                <a:latin typeface="Calibri"/>
              </a:rPr>
              <a:t>Result: 90 minutes of work compressed to 90 seconds of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Carrier intelligence that compounds.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Every approved claim makes the next narrative smarter. Every denied claim teaches us not to make that mistake again — across the customer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97480"/>
            <a:ext cx="5303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620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5E59"/>
                </a:solidFill>
                <a:latin typeface="Calibri"/>
              </a:rPr>
              <a:t>Denial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Cigna: 75% of denials cluster on codes X, Y, Z
Delta: 41% on D3331 bundling
MetLife: 36% on apicoectomy 'try retreatment first'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2697480"/>
            <a:ext cx="5303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28620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5E59"/>
                </a:solidFill>
                <a:latin typeface="Calibri"/>
              </a:rPr>
              <a:t>Narrative 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32461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Cigna: lead with anatomical specificity
Delta: ADA CDT-exact terminology
Aetna: front-load financial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89120"/>
            <a:ext cx="5303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537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5E59"/>
                </a:solidFill>
                <a:latin typeface="Calibri"/>
              </a:rPr>
              <a:t>DO NOT APPEAL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Plan-level exclusions, exhausted caps, contractual limits.
Appealing degrades carrier credibility for the cases that DO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4389120"/>
            <a:ext cx="5303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45537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5E59"/>
                </a:solidFill>
                <a:latin typeface="Calibri"/>
              </a:rPr>
              <a:t>Escalation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9377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When peer-to-peer
When DOI complaint
Which carriers respond on first ask vs. require 3 attempts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1 practice finds a pattern → 1,000 practices learn instantly. The intelligence isn't the AI; it's the feedback loop.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The moat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Three things no one else pairs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848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2011680"/>
            <a:ext cx="1874519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79" y="208483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2011680"/>
            <a:ext cx="1874519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199" y="208483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Vyne Dental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1874519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208483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DentalRobot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2011680"/>
            <a:ext cx="1874519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208483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Pearl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877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Carrier intelligence (per-carrier)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46888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58775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46888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9" y="258775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Legacy 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46888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258775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Generic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246888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258775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Case lifecycle threading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971800"/>
            <a:ext cx="187451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30906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59" y="2971800"/>
            <a:ext cx="187451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199" y="30906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Query-based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971800"/>
            <a:ext cx="187451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30906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Single doc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2971800"/>
            <a:ext cx="187451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309067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59359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DO NOT APPEAL discipline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47472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79" y="359359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59" y="347472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199" y="359359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347472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359359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29800" y="347472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359359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977639"/>
            <a:ext cx="3657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09651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Real-time PMS integration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3977639"/>
            <a:ext cx="187451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79" y="409651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59" y="3977639"/>
            <a:ext cx="187451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199" y="409651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Manual upload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3977639"/>
            <a:ext cx="187451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19" y="409651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Manual upload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29800" y="3977639"/>
            <a:ext cx="187451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409651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Imaging 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480559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59943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Autonomous submission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4480559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79" y="459943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59" y="4480559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199" y="459943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Draft only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79" y="4480559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9" y="459943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Draft only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29800" y="4480559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21240" y="459943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The gap we fill: carrier intelligence that learns + case threading that doesn't break + the discipline to say 'don't appeal.'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Differentiation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$135M SOM. $870M SAM. $4.5B+ TAM.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Bottom-up. Endo first because density of pre-auth + appeal events per practice is 3-5× general dentistry.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23160"/>
            <a:ext cx="37033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3703320" cy="45720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96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Endodontic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$135M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4,486 practices · $30K ACV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PBS Endo + TDO + Endovision coverage. Win endo, the carrier intelligence layer compounds.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423160"/>
            <a:ext cx="37033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423160"/>
            <a:ext cx="370332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496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0175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Dental specialty (endo, OS, perio, ortho, pedo)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6576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766E"/>
                </a:solidFill>
                <a:latin typeface="Calibri"/>
              </a:rPr>
              <a:t>$870M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4572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29,015 practices · $30K ACV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502920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All ADA-recognized specialties. Insurance-heavy workflows.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423160"/>
            <a:ext cx="37033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423160"/>
            <a:ext cx="3703320" cy="457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496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0175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All US dental + DSO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6576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64748B"/>
                </a:solidFill>
                <a:latin typeface="Calibri"/>
              </a:rPr>
              <a:t>$4.5B+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572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178,000+ practices · $25K blended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02920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GP at lower ACV. DSO contracts ($50-150K build + $5-15K/mo) lift blended ARPU.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Sources: ADA HPI 2025 · Becker's Dental 2026 · Grand View Research (DSO 2025) · Towards Healthcare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Market — TAM/SAM/SOM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14-day customer payback. 86% gross margin.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5532120" cy="3840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CUSTOMER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4-doc endo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Subscription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$18,000/yr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38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Revenue recovered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538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59669"/>
                </a:solidFill>
                <a:latin typeface="Calibri"/>
              </a:rPr>
              <a:t>$214,000/yr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227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Hours saved (725 × $35)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92277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59669"/>
                </a:solidFill>
                <a:latin typeface="Calibri"/>
              </a:rPr>
              <a:t>$25,375/yr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068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Total annual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3068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59669"/>
                </a:solidFill>
                <a:latin typeface="Calibri"/>
              </a:rPr>
              <a:t>$239,000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Payback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690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5E59"/>
                </a:solidFill>
                <a:latin typeface="Calibri"/>
              </a:rPr>
              <a:t>14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ROI multiple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074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5E59"/>
                </a:solidFill>
                <a:latin typeface="Calibri"/>
              </a:rPr>
              <a:t>13.3×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011680"/>
            <a:ext cx="5212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SAAS 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06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Per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54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ACV (sub + amortized build)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$22,167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747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Gross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CAC (Year 1 blended)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$9,500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114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CAC payback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5.0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Logo churn (assumption)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434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5% annual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75487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Net dollar retention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7548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115%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7491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LTV (4yr life)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07491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$74,500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39495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LTV / CAC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39495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Calibri"/>
              </a:rPr>
              <a:t>7.8×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Unit economics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FINANCIAL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$0 → $5.4M ARR in 36 months.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146304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208483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011680"/>
            <a:ext cx="132588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66544" y="208483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Practices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011680"/>
            <a:ext cx="132588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208483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MRR ($K)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011680"/>
            <a:ext cx="146304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08483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ARR ($K)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169164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08483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Gross Profit ($K)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011680"/>
            <a:ext cx="141732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2984" y="208483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Opex ($K)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011680"/>
            <a:ext cx="150876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208483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EBITDA ($K)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" y="2514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Q4'26 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423160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66544" y="2514600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423160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92424" y="2514600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42316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2514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423160"/>
            <a:ext cx="1691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25146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2423160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4" y="25146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423160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4" y="2514600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E11D48"/>
                </a:solidFill>
                <a:latin typeface="Calibri"/>
              </a:rPr>
              <a:t>($165)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807208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3" y="2898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Q2'27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2807208"/>
            <a:ext cx="13258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66544" y="2898648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2807208"/>
            <a:ext cx="13258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2424" y="2898648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807208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2898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$156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807208"/>
            <a:ext cx="16916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289864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$134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807208"/>
            <a:ext cx="14173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72984" y="289864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$310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2807208"/>
            <a:ext cx="1508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0304" y="2898648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E11D48"/>
                </a:solidFill>
                <a:latin typeface="Calibri"/>
              </a:rPr>
              <a:t>($176)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191256"/>
            <a:ext cx="146304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3" y="32826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Q4'27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3191256"/>
            <a:ext cx="132588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66544" y="3282696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Calibri"/>
              </a:rPr>
              <a:t>28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37560" y="3191256"/>
            <a:ext cx="132588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92424" y="3282696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Calibri"/>
              </a:rPr>
              <a:t>$50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3191256"/>
            <a:ext cx="146304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32826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Calibri"/>
              </a:rPr>
              <a:t>$600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191256"/>
            <a:ext cx="169164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81344" y="328269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Calibri"/>
              </a:rPr>
              <a:t>$516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18120" y="3191256"/>
            <a:ext cx="141732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72984" y="328269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Calibri"/>
              </a:rPr>
              <a:t>$475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3191256"/>
            <a:ext cx="150876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90304" y="3282696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059669"/>
                </a:solidFill>
                <a:latin typeface="Calibri"/>
              </a:rPr>
              <a:t>$41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3575304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3" y="3666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Q2'28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0" y="3575304"/>
            <a:ext cx="13258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66544" y="3666744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65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37560" y="3575304"/>
            <a:ext cx="13258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92424" y="3666744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$128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575304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3666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$1,536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3575304"/>
            <a:ext cx="16916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81344" y="366674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$1,321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3575304"/>
            <a:ext cx="14173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72984" y="366674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$640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5440" y="3575304"/>
            <a:ext cx="1508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0304" y="3666744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59669"/>
                </a:solidFill>
                <a:latin typeface="Calibri"/>
              </a:rPr>
              <a:t>$681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395935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3503" y="4050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Q4'28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80" y="3959352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66544" y="4050791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130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37560" y="3959352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92424" y="4050791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$260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0" y="395935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18304" y="4050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$3,120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26480" y="3959352"/>
            <a:ext cx="1691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81344" y="4050791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$2,683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18120" y="3959352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72984" y="4050791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$880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35440" y="3959352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90304" y="4050791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59669"/>
                </a:solidFill>
                <a:latin typeface="Calibri"/>
              </a:rPr>
              <a:t>$1,803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4343400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3503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Q4'29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11680" y="4343400"/>
            <a:ext cx="13258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66544" y="4434840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240 + 4 DSOs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37560" y="4343400"/>
            <a:ext cx="13258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392424" y="4434840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$450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63440" y="4343400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$5,400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0" y="4343400"/>
            <a:ext cx="16916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81344" y="44348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$4,644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18120" y="4343400"/>
            <a:ext cx="14173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72984" y="443484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F172A"/>
                </a:solidFill>
                <a:latin typeface="Calibri"/>
              </a:rPr>
              <a:t>$1,400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35440" y="4343400"/>
            <a:ext cx="1508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90304" y="4434840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059669"/>
                </a:solidFill>
                <a:latin typeface="Calibri"/>
              </a:rPr>
              <a:t>$3,244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ASSUMPTIONS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Logo churn 5% · NDR 115% (skill expansion + DSO upsell) · CAC $11K → $7.5K Y1→Y3 · Build fees deferred over 12mo · Cash break-even Q1'29 at ~$3M ARR · 4 DSO contracts in Y3 = $360K incremental ARR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Financial model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Three tiers. Same engine. Different leverage.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We don't price per seat. We price per insurance complexity.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23160"/>
            <a:ext cx="3703320" cy="3931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Solo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63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1-2 doc endo / specialty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Build: $10,000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Subscription: $1,250/mo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251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Calibri"/>
              </a:rPr>
              <a:t>→ $120K+ recovered/yr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709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All 3 core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983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1 PMS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257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Standard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423160"/>
            <a:ext cx="3703320" cy="393192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5E59"/>
                </a:solidFill>
                <a:latin typeface="Calibri"/>
              </a:rPr>
              <a:t>Group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063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3-8 doc, multi-loc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Build: $15,000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Subscription: $2,000/mo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251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Calibri"/>
              </a:rPr>
              <a:t>→ $250-500K recovered/yr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709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All Solo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983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Multi-location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5257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Carrier benchmarking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532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Priority queue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423160"/>
            <a:ext cx="3703320" cy="3931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DSO / 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063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10+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Build: $50K-$150K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Subscription: $5K-$15K/mo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51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FBF1"/>
                </a:solidFill>
                <a:latin typeface="Calibri"/>
              </a:rPr>
              <a:t>→ $2M+ recovered/yr at 50 locations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709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All Group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983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SSO + custom BAA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257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Custom carrier playbooks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532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API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806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Dedicated CSM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Pricing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From pilot to $5M ARR in three channels.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274320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39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65960"/>
            <a:ext cx="146304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03911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Y1-Y3 logos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965960"/>
            <a:ext cx="118872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3911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965960"/>
            <a:ext cx="155448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03911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965960"/>
            <a:ext cx="4160520" cy="411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2039112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8716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AAE Annual + regional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37744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48716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37744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48716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$8K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3774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48716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8% booth→close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37744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2487168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Endo's mecca · 8K members · we exhibit Y1, sponsor Y2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80360"/>
            <a:ext cx="2743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9008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Study clubs / KOL referrals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880360"/>
            <a:ext cx="1463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299008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880360"/>
            <a:ext cx="11887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99008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$4K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880360"/>
            <a:ext cx="15544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99008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25% warm→close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2880360"/>
            <a:ext cx="41605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19" y="2990088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Endo is a small world · pilot becomes 4 case studies · NPS 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49300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Cold outbound (top-200 endo groups)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38328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349300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38328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349300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$14K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38328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349300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6% BDR→close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33832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19" y="3493008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Apollo + ZoomInfo list · founder-led · high-ACV groups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886200"/>
            <a:ext cx="2743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995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DSO BD (Heartland, Pacific, MB2)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3886200"/>
            <a:ext cx="1463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399592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4 DSOs / 20 logos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3886200"/>
            <a:ext cx="11887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399592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$35K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3886200"/>
            <a:ext cx="15544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399592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 of 8 convs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3886200"/>
            <a:ext cx="41605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19" y="3995928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Long cycle (9-12mo) · founder-led · PE-friendly economics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074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Blended CAC $8.5K vs. ACV $22.2K = 2.6× first-year payback. 240 endo practices = 5.3% of addressable endo market.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Funnel example (study club): 200 referred convos → 80 demos → 40 pilots → 28 paid (35% pilot-to-paid)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Go-to-market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From pilot to playbook to portfolio.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164592" cy="1371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5E59"/>
                </a:solidFill>
                <a:latin typeface="Calibri"/>
              </a:rPr>
              <a:t>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June 2026 → December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65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Design partner: founder's mother's 4-doc endo practice (PBS Endo)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585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Live: pre-auth narratives, claim appeals (with DO NOT APPEAL scoring), referrals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51175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Baseline appeal success: 40% → Target: 60%+ by month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43783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Expected outcome: $150-200K annual revenue impact (1 practice)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164592" cy="1371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5E59"/>
                </a:solidFill>
                <a:latin typeface="Calibri"/>
              </a:rPr>
              <a:t>YEAR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Jan – Dec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74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50 endo practices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673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10,000+ claims/mo flowing through carrier 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05993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PBS Endo + TDO + Endovision integrations hardened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5254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Cohort avg appeal success rate: 55%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83479"/>
            <a:ext cx="164592" cy="1371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834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5E59"/>
                </a:solidFill>
                <a:latin typeface="Calibri"/>
              </a:rPr>
              <a:t>YEAR 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2028 onward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98347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Specialty expansion: oral surgery (750), perio (1,200), ortho (2,500)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7608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DSO platform integrations: Heartland, Pacific Dental, MB2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56869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Network effects on carrier intelligence compound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86130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·  Long-term: carriers themselves licensing Restore for adjudication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Restore as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In five years, Restore is the operating system for dental insurance — inside practices and inside carrier networks.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280160" cy="91440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Y1-Y2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5176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Practice insurance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063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Restore = the brain for appeal strategy + pre-auth management.
Endo → Oral surgery → Perio → Ortho → Pedo → GP.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128016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2335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Y3-Y4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94759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DSO intelligence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Heartland / Pacific / MB2 license Restore for portfolio intelligence. DSOs use it for portfolio-level insurance revenue optimization.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1280160" cy="9144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5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937759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Carrier adjudication (the inverse market)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49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Carriers license Restore to grade appeals. "Should we approve or deny this?" Restore becomes the industry standard.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Same intelligence, compounding value at every layer. $150B dental market with $40B insurance friction.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Hospitality operator. Honest design partner. Financial discipline.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37033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370332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Ross Richardson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EVP Finance &amp; Accounting, Method Co.
(Philadelphia hospitality, 10 hotels + F&amp;B)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5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Led financial operations across 2,000+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199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Obsessed with: systems that scale, unit economics that don't lie, operator feedback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3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Zero prior healthcare startup experience — zero dogma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965960"/>
            <a:ext cx="37033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965960"/>
            <a:ext cx="370332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299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DESIGN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146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4-doc endodontic practice (PBS Endo)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15+ years operating · $2M+/yr in insurance disputes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9475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Weekly product feedback (she tells me what doesn't work in 30 sec)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7199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Not a cheerleader — a customer who will switch if it's broken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34923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Product-market fit pressure-tests in real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965960"/>
            <a:ext cx="37033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965960"/>
            <a:ext cx="370332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59" y="20299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ADVISORY 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5146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Building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30175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Insurance ops experts (RCM, appeal specialists)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379475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Dental PMS integration partners (PBS Endo, TDO, Dentrix)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9" y="457199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DSO executives (Heartland, Pacific, MB2)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9" y="534923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·  Carrier contacts for early intelligence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Founder who ships · customer who keeps honest · unit-economics flywheel from day one.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$2.5M seed → 18 months → $1.5M ARR.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USE OF FUNDS ($2.5M)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Engineering &amp;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$1,050K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3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3 engineers + 1 ML/eval · PMS integrations · carrier playbook tooling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79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260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GTM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7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$625K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0039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Founder-led + 1 BDR + 1 CSM · AAE booth · study club sponsorships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39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118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204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204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$200K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9475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HIPAA audit · SOC 2 Type 1 · BAA legal · cyber insurance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Working capital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14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$400K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89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DSO contract bridge (long AR) · 6mo cash buffer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709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Founder +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709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$225K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9834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Below-market through M18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920240"/>
            <a:ext cx="4937760" cy="402336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2057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18-MONTH MILESTONES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514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✓  65 paying practices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788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$1.5M ARR run-rate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154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✓  86% gross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Validated at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794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✓  2 DSO LOIs signed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069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Heartland-tier conversations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434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✓  8,000+ resolved claims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709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Carrier intelligence dataset across 25+ carriers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074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✓  Series A 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$8-12M at $40-60M post on $4M+ ARR (Q3'28)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44652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391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Restore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The 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